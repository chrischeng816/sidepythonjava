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162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3608" y="-9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bleStyles" Target="tableStyles.xml" /><ns0:Relationship Id="rId8" Type="http://schemas.openxmlformats.org/officeDocument/2006/relationships/viewProps" Target="viewProps.xml" /><ns0:Relationship Id="rId7" Type="http://schemas.openxmlformats.org/officeDocument/2006/relationships/presProps" Target="presProps.xml" /><ns0:Relationship Id="rId6" Type="http://schemas.openxmlformats.org/officeDocument/2006/relationships/handoutMaster" Target="handoutMasters/handoutMaster1.xml" /><ns0:Relationship Id="rId5" Type="http://schemas.openxmlformats.org/officeDocument/2006/relationships/notesMaster" Target="notesMasters/notesMaster1.xml" /><ns0:Relationship Id="rId4" Type="http://schemas.openxmlformats.org/officeDocument/2006/relationships/slide" Target="slides/slide2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10" Type="http://schemas.openxmlformats.org/officeDocument/2006/relationships/slide" Target="slides/slide3.xml" /><ns0:Relationship Id="rId11" Type="http://schemas.openxmlformats.org/officeDocument/2006/relationships/slide" Target="slides/slide4.xml" /><ns0:Relationship Id="rId12" Type="http://schemas.openxmlformats.org/officeDocument/2006/relationships/slide" Target="slides/slide5.xml" /><ns0:Relationship Id="rId13" Type="http://schemas.openxmlformats.org/officeDocument/2006/relationships/slide" Target="slides/slide6.xml" /><ns0:Relationship Id="rId14" Type="http://schemas.openxmlformats.org/officeDocument/2006/relationships/slide" Target="slides/slide7.xml" /><ns0:Relationship Id="rId15" Type="http://schemas.openxmlformats.org/officeDocument/2006/relationships/slide" Target="slides/slide8.xml" /><ns0:Relationship Id="rId16" Type="http://schemas.openxmlformats.org/officeDocument/2006/relationships/slide" Target="slides/slide9.xml" /><ns0:Relationship Id="rId17" Type="http://schemas.openxmlformats.org/officeDocument/2006/relationships/slide" Target="slides/slide10.xml" /><ns0:Relationship Id="rId18" Type="http://schemas.openxmlformats.org/officeDocument/2006/relationships/slide" Target="slides/slide11.xml" /><ns0:Relationship Id="rId19" Type="http://schemas.openxmlformats.org/officeDocument/2006/relationships/slide" Target="slides/slide12.xml" /><ns0:Relationship Id="rId20" Type="http://schemas.openxmlformats.org/officeDocument/2006/relationships/slide" Target="slides/slide13.xml" /><ns0:Relationship Id="rId21" Type="http://schemas.openxmlformats.org/officeDocument/2006/relationships/slide" Target="slides/slide14.xml" /><ns0:Relationship Id="rId22" Type="http://schemas.openxmlformats.org/officeDocument/2006/relationships/slide" Target="slides/slide15.xml" /><ns0:Relationship Id="rId23" Type="http://schemas.openxmlformats.org/officeDocument/2006/relationships/slide" Target="slides/slide16.xml" /></ns0: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B340A-E0EB-8C40-9409-1FFF7FACF38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36365-B677-D44E-91FC-E140571685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0EDA1-C987-DA4A-B537-2A2FE375E7C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BB8DA-73BB-EE4C-B4E5-A3AC4805299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49876B99-1F5C-4E45-ACF8-A757952A32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Graphic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DCFE7AC9-246F-274F-90B0-9B5F72AD257B}" type="datetime1">
              <a:rPr lang="en-US" smtClean="0"/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5FA7-125C-0C4A-A698-3C3B1B89F9E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aphic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C47E-A1DB-2145-AD89-7CD67B276434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1612-8457-0F45-9037-542885C50CD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2B47-1129-A14A-A2B6-9E4149B6642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8229600" cy="871538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6"/>
            <a:ext cx="5111750" cy="35182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5497-67D5-5B4B-AD21-B28310D102A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A91A-B92F-8744-80AE-4EADCD339B7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74605-632E-8E46-B0E8-8E407C6C1C1B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B470-24F1-6744-BE88-730898E97D2D}" type="slidenum">
              <a:rPr lang="en-US" smtClean="0"/>
            </a:fld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2654638"/>
            <a:ext cx="5486400" cy="285292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-Johnny Appleseed</a:t>
            </a:r>
            <a:endParaRPr lang="en-US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49605" y="1390769"/>
            <a:ext cx="7854315" cy="1047631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800">
                <a:latin typeface="+mn-lt"/>
              </a:defRPr>
            </a:lvl1pPr>
          </a:lstStyle>
          <a:p>
            <a:pPr lvl="0"/>
            <a:r>
              <a:rPr lang="en-US" dirty="0" smtClean="0"/>
              <a:t>“Type a quote here.”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venir Next Regular"/>
                <a:cs typeface="Avenir Next Regular"/>
              </a:defRPr>
            </a:lvl1pPr>
          </a:lstStyle>
          <a:p>
            <a:fld id="{7527057D-347E-4F49-87E4-D800B7A46B0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venir Next Regular"/>
                <a:cs typeface="Avenir Next Regular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venir Next Regular"/>
                <a:cs typeface="Avenir Next Regular"/>
              </a:defRPr>
            </a:lvl1pPr>
          </a:lstStyle>
          <a:p>
            <a:fld id="{3CD5B470-24F1-6744-BE88-730898E97D2D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67658"/>
            <a:ext cx="7772400" cy="1102519"/>
          </a:xfrm>
        </p:spPr>
        <p:txBody>
          <a:bodyPr rtlCol="0"/>
          <a:lstStyle/>
          <a:p>
            <a:r>
              <a:rPr lang="en-US" sz="3000" b="1">
                <a:solidFill>
                  <a:srgbClr val="FFFFFF"/>
                </a:solidFill>
              </a:rPr>
              <a:t>Reproducing SIDE and Extending It to Python</a:t>
            </a:r>
            <a:endParaRPr lang="en-US" sz="30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371600" y="1884489"/>
            <a:ext cx="6400800" cy="1314450"/>
          </a:xfrm>
        </p:spPr>
        <p:txBody>
          <a:bodyPr rtlCol="0"/>
          <a:lstStyle/>
          <a:p>
            <a:r>
              <a:rPr lang="en-US" sz="1800">
                <a:solidFill>
                  <a:srgbClr val="FFFFFF"/>
                </a:solidFill>
              </a:rPr>
              <a:t>Paper focus: code-summary semantic alignment beyond reference overlap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Java base artifact: /scratch/zcheng06/code-summarization-metric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Python extension: /scratch/zcheng06/SidePython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March 9, 2026</a:t>
            </a:r>
            <a:endParaRPr lang="en-US"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Research Problem and Motivation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Reference-based metrics can underrate summaries that are semantically correct but lexically different.</a:t>
            </a:r>
            <a:endParaRPr lang="en-US" sz="2000"/>
          </a:p>
          <a:p>
            <a:pPr lvl="0"/>
            <a:r>
              <a:rPr lang="en-US" sz="2000"/>
              <a:t>Repository comments may be stale, incomplete, or low quality, so reference text is not always a reliable gold standard.</a:t>
            </a:r>
            <a:endParaRPr lang="en-US" sz="2000"/>
          </a:p>
          <a:p>
            <a:pPr lvl="0"/>
            <a:r>
              <a:rPr lang="en-US" sz="2000"/>
              <a:t>The selected paper asks whether a code-aware semantic metric can better match developer judgment.</a:t>
            </a:r>
            <a:endParaRPr lang="en-US" sz="2000"/>
          </a:p>
          <a:p>
            <a:pPr lvl="0"/>
            <a:r>
              <a:rPr lang="en-US" sz="2000"/>
              <a:t>SIDE measures alignment between the code snippet and the generated summary, not only overlap with a reference comment.</a:t>
            </a:r>
            <a:endParaRPr lang="en-US" sz="2000"/>
          </a:p>
          <a:p>
            <a:pPr lvl="0"/>
            <a:r>
              <a:rPr lang="en-US" sz="2000"/>
              <a:t>This matters for fair evaluation of code summarizers and for data-centric filtering decisions.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AB371F-BF60-4186-A597-C5D6D8597CBC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Overview of the Original Approach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Build triplets: query = code, positive = suitable summary, negative = unsuitable summary.</a:t>
            </a:r>
            <a:endParaRPr lang="en-US" sz="2000"/>
          </a:p>
          <a:p>
            <a:pPr lvl="0"/>
            <a:r>
              <a:rPr lang="en-US" sz="2000"/>
              <a:t>Encode texts with MPNet plus mean pooling and optimize a triplet-loss embedding space.</a:t>
            </a:r>
            <a:endParaRPr lang="en-US" sz="2000"/>
          </a:p>
          <a:p>
            <a:pPr lvl="0"/>
            <a:r>
              <a:rPr lang="en-US" sz="2000"/>
              <a:t>At inference time, SIDE is the cosine similarity between the code embedding and the summary embedding.</a:t>
            </a:r>
            <a:endParaRPr lang="en-US" sz="2000"/>
          </a:p>
          <a:p>
            <a:pPr lvl="0"/>
            <a:r>
              <a:rPr lang="en-US" sz="2000"/>
              <a:t>Model selection uses the average margin cos(query,pos) - cos(query,neg) on held-out evaluation triplets.</a:t>
            </a:r>
            <a:endParaRPr lang="en-US" sz="2000"/>
          </a:p>
          <a:p>
            <a:pPr lvl="0"/>
            <a:r>
              <a:rPr lang="en-US" sz="2000"/>
              <a:t>The artifact also benchmarks SIDE against lexical and embedding-based baselines.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C230F1-9B4C-4E1B-8CCA-E99C8EDFA91C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Data, Benchmarks, and Main Results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Java training/eval triplets and pretrained checkpoints are distributed separately from the repo via external links.</a:t>
            </a:r>
            <a:endParaRPr lang="en-US" sz="2000"/>
          </a:p>
          <a:p>
            <a:pPr lvl="0"/>
            <a:r>
              <a:rPr lang="en-US" sz="2000"/>
              <a:t>The human benchmark CSV contains 6,253 annotated code-summary pairs; 5,201 remain after filtering mid != 0.</a:t>
            </a:r>
            <a:endParaRPr lang="en-US" sz="2000"/>
          </a:p>
          <a:p>
            <a:pPr lvl="0"/>
            <a:r>
              <a:rPr lang="en-US" sz="2000"/>
              <a:t>Compared metrics include Jaccard, BLEU, ROUGE, METEOR, USE, BERTScore, SentenceBERT, InferSent, and CodeT5+.</a:t>
            </a:r>
            <a:endParaRPr lang="en-US" sz="2000"/>
          </a:p>
          <a:p>
            <a:pPr lvl="0"/>
            <a:r>
              <a:rPr lang="en-US" sz="2000"/>
              <a:t>Local Java checkpoint selection reproduces the best checkpoint at 141205 with eval margin 0.81698.</a:t>
            </a:r>
            <a:endParaRPr lang="en-US" sz="2000"/>
          </a:p>
          <a:p>
            <a:pPr lvl="0"/>
            <a:r>
              <a:rPr lang="en-US" sz="2000"/>
              <a:t>The reproduced regression analysis retains SIDE in the reduced metric set and shows significance for all judged quality dimensions.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49104-8FAE-4EE1-B3AA-EF1ADC3895EC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Artifact and Reproducibility Assessment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Strengths: the repo includes training code, evaluation scripts, R analysis, precomputed CSVs, and paper-aligned logic.</a:t>
            </a:r>
            <a:endParaRPr lang="en-US" sz="2000"/>
          </a:p>
          <a:p>
            <a:pPr lvl="0"/>
            <a:r>
              <a:rPr lang="en-US" sz="2000"/>
              <a:t>Weak points in the original Java clone: missing dataset/model folders, hard-coded paths, CUDA-only defaults, and incomplete dependency notes.</a:t>
            </a:r>
            <a:endParaRPr lang="en-US" sz="2000"/>
          </a:p>
          <a:p>
            <a:pPr lvl="0"/>
            <a:r>
              <a:rPr lang="en-US" sz="2000"/>
              <a:t>README relies on Google Drive assets for the actual triplets and trained checkpoints.</a:t>
            </a:r>
            <a:endParaRPr lang="en-US" sz="2000"/>
          </a:p>
          <a:p>
            <a:pPr lvl="0"/>
            <a:r>
              <a:rPr lang="en-US" sz="2000"/>
              <a:t>The original Analysis script assumed a repo named summarization-metric and a CSV at repo root, so it failed out of the box.</a:t>
            </a:r>
            <a:endParaRPr lang="en-US" sz="2000"/>
          </a:p>
          <a:p>
            <a:pPr lvl="0"/>
            <a:r>
              <a:rPr lang="en-US" sz="2000"/>
              <a:t>Result: the artifact was close to reproducible, but not directly runnable in a fresh local clone.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1E4A61B-390A-4087-911C-69639487BF31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Installation, Dependency, and Usability Challenges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Java requirements do not cover every metric script; computeAllMetrics references extra packages such as sacrebleu, rouge, bert_score, and tensorflow_hub.</a:t>
            </a:r>
            <a:endParaRPr lang="en-US" sz="2000"/>
          </a:p>
          <a:p>
            <a:pPr lvl="0"/>
            <a:r>
              <a:rPr lang="en-US" sz="2000"/>
              <a:t>R analysis depends on MASS, Hmisc, and xtable; Hmisc and xtable are R packages, not pip packages.</a:t>
            </a:r>
            <a:endParaRPr lang="en-US" sz="2000"/>
          </a:p>
          <a:p>
            <a:pPr lvl="0"/>
            <a:r>
              <a:rPr lang="en-US" sz="2000"/>
              <a:t>SidePython audit found 39 JSONL Git LFS pointer files and 34 scripts with missing modules under bare python3.</a:t>
            </a:r>
            <a:endParaRPr lang="en-US" sz="2000"/>
          </a:p>
          <a:p>
            <a:pPr lvl="0"/>
            <a:r>
              <a:rPr lang="en-US" sz="2000"/>
              <a:t>Several legacy scripts still assume machine-specific or repository-specific paths.</a:t>
            </a:r>
            <a:endParaRPr lang="en-US" sz="2000"/>
          </a:p>
          <a:p>
            <a:pPr lvl="0"/>
            <a:r>
              <a:rPr lang="en-US" sz="2000"/>
              <a:t>Environment fragmentation is real: the Java repo uses a local uv/venv setup, while SidePython provides a Conda environment.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D254448-25A1-4E9B-8B59-70C7982CE5B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Reproduction Progress: Recovering Java SIDE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Added the local assets expected by the Java project: fine-tuning/fine-tuning/train.json, eval.json, and hard-negatives/hard-negatives/141205.</a:t>
            </a:r>
            <a:endParaRPr lang="en-US" sz="2000"/>
          </a:p>
          <a:p>
            <a:pPr lvl="0"/>
            <a:r>
              <a:rPr lang="en-US" sz="2000"/>
              <a:t>Reworked Analysis/Analysis-SIDE.r to auto-detect the repo root, benchmark CSV, datasets, and checkpoint folder.</a:t>
            </a:r>
            <a:endParaRPr lang="en-US" sz="2000"/>
          </a:p>
          <a:p>
            <a:pPr lvl="0"/>
            <a:r>
              <a:rPr lang="en-US" sz="2000"/>
              <a:t>Added dependency checks and fallback behavior when Hmisc or xtable are missing.</a:t>
            </a:r>
            <a:endParaRPr lang="en-US" sz="2000"/>
          </a:p>
          <a:p>
            <a:pPr lvl="0"/>
            <a:r>
              <a:rPr lang="en-US" sz="2000"/>
              <a:t>Added Analysis/README.md and ignored generated outputs so reruns are cleaner.</a:t>
            </a:r>
            <a:endParaRPr lang="en-US" sz="2000"/>
          </a:p>
          <a:p>
            <a:pPr lvl="0"/>
            <a:r>
              <a:rPr lang="en-US" sz="2000"/>
              <a:t>Current command Rscript Analysis/Analysis-SIDE.r now completes successfully in this workspace.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0E41441-4B4A-4C16-85B8-2688E5A7143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Reproduced Results: Java Analysis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Best Java checkpoint from Results/evaluation/evalResults.csv: 141205, cosine margin 0.81698.</a:t>
            </a:r>
            <a:endParaRPr lang="en-US" sz="2000"/>
          </a:p>
          <a:p>
            <a:pPr lvl="0"/>
            <a:r>
              <a:rPr lang="en-US" sz="2000"/>
              <a:t>Reproduced regression on Overall DA Score: SIDE coefficient = 0.0192, OR = 1.0194, p &lt; 0.001.</a:t>
            </a:r>
            <a:endParaRPr lang="en-US" sz="2000"/>
          </a:p>
          <a:p>
            <a:pPr lvl="0"/>
            <a:r>
              <a:rPr lang="en-US" sz="2000"/>
              <a:t>SIDE is also significant for Content Adequacy (0.4535), Conciseness (0.2973), Fluency (0.2348), and composite Overall (0.3544), all p &lt; 0.001.</a:t>
            </a:r>
            <a:endParaRPr lang="en-US" sz="2000"/>
          </a:p>
          <a:p>
            <a:pPr lvl="0"/>
            <a:r>
              <a:rPr lang="en-US" sz="2000"/>
              <a:t>In Spearman correlation, SIDE is most associated with USE_CS (0.411), SentenceBERT_CS (0.405), and c_coeff (0.408), but remains an independent retained metric.</a:t>
            </a:r>
            <a:endParaRPr lang="en-US" sz="2000"/>
          </a:p>
          <a:p>
            <a:pPr lvl="0"/>
            <a:r>
              <a:rPr lang="en-US" sz="2000"/>
              <a:t>This supports the paper's motivation: code-summary semantic alignment adds signal beyond token overlap alone.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D3D9328-AEB9-49D6-A296-64D6351701B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Planned Extensions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Retrain SIDE for Python code-summary pairs instead of reusing the Java model unchanged.</a:t>
            </a:r>
            <a:endParaRPr lang="en-US" sz="2000"/>
          </a:p>
          <a:p>
            <a:pPr lvl="0"/>
            <a:r>
              <a:rPr lang="en-US" sz="2000"/>
              <a:t>Evaluate SIDE-py on Python benchmark predictions from baseline, AST, Function Signature, and CrystalBLEU data-reduction variants.</a:t>
            </a:r>
            <a:endParaRPr lang="en-US" sz="2000"/>
          </a:p>
          <a:p>
            <a:pPr lvl="0"/>
            <a:r>
              <a:rPr lang="en-US" sz="2000"/>
              <a:t>Compare SIDE-py against BLEU-4, ROUGE-L, METEOR, ChrF, and TF-IDF cosine on the Python benchmark.</a:t>
            </a:r>
            <a:endParaRPr lang="en-US" sz="2000"/>
          </a:p>
          <a:p>
            <a:pPr lvl="0"/>
            <a:r>
              <a:rPr lang="en-US" sz="2000"/>
              <a:t>Extend the reproduction from Java-only artifact repair to cross-language empirical validation.</a:t>
            </a:r>
            <a:endParaRPr lang="en-US" sz="2000"/>
          </a:p>
          <a:p>
            <a:pPr lvl="0"/>
            <a:r>
              <a:rPr lang="en-US" sz="2000"/>
              <a:t>If time permits, add hard-negative variants, stronger validation splits, and more ablation settings.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6F6F1A-035C-4F3A-963F-D032DB8E380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SidePython Artifact Overview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SidePython organizes the extension into three studies: Java token optimization, SIDE-py training, and Python generalization.</a:t>
            </a:r>
            <a:endParaRPr lang="en-US" sz="2000"/>
          </a:p>
          <a:p>
            <a:pPr lvl="0"/>
            <a:r>
              <a:rPr lang="en-US" sz="2000"/>
              <a:t>study-2/training-sidep contains the MPNet triplet training code and the current SIDE-py checkpoint.</a:t>
            </a:r>
            <a:endParaRPr lang="en-US" sz="2000"/>
          </a:p>
          <a:p>
            <a:pPr lvl="0"/>
            <a:r>
              <a:rPr lang="en-US" sz="2000"/>
              <a:t>study-3/inference-results stores Python benchmark predictions, while pipeline/ adds staged entrypoints for prep, train, score, and compare.</a:t>
            </a:r>
            <a:endParaRPr lang="en-US" sz="2000"/>
          </a:p>
          <a:p>
            <a:pPr lvl="0"/>
            <a:r>
              <a:rPr lang="en-US" sz="2000"/>
              <a:t>run_all.py performs preflight checks for missing modules and Git LFS placeholders before running the staged workflow.</a:t>
            </a:r>
            <a:endParaRPr lang="en-US" sz="2000"/>
          </a:p>
          <a:p>
            <a:pPr lvl="0"/>
            <a:r>
              <a:rPr lang="en-US" sz="2000"/>
              <a:t>environment.yml is much more complete than the original Java requirements and serves as the intended reproducible environment entrypoint.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E88AC24-0452-421C-8D72-6962F642037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Current Python Progress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Prepared 3,600 training triplets and 400 validation triplets for SIDE-py.</a:t>
            </a:r>
            <a:endParaRPr lang="en-US" sz="2000"/>
          </a:p>
          <a:p>
            <a:pPr lvl="0"/>
            <a:r>
              <a:rPr lang="en-US" sz="2000"/>
              <a:t>Current checkpoint: study-2/training-sidep/models/mpnet_triplet_no_hardneg_v2-test.</a:t>
            </a:r>
            <a:endParaRPr lang="en-US" sz="2000"/>
          </a:p>
          <a:p>
            <a:pPr lvl="0"/>
            <a:r>
              <a:rPr lang="en-US" sz="2000"/>
              <a:t>Validation score improved from 0.4634 at epoch 1 to a best 0.6003 at epoch 9.</a:t>
            </a:r>
            <a:endParaRPr lang="en-US" sz="2000"/>
          </a:p>
          <a:p>
            <a:pPr lvl="0"/>
            <a:r>
              <a:rPr lang="en-US" sz="2000"/>
              <a:t>Scored 500 Python benchmark predictions; SIDE shows moderate correlation with ChrF (0.4363), METEOR (0.4360), TF-IDF cosine (0.4361), and ROUGE-L (0.4146).</a:t>
            </a:r>
            <a:endParaRPr lang="en-US" sz="2000"/>
          </a:p>
          <a:p>
            <a:pPr lvl="0"/>
            <a:r>
              <a:rPr lang="en-US" sz="2000"/>
              <a:t>The remaining gap is the full human-judgment statistical replication for Python.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B3F75C-CC33-4FE4-9C7A-C1A72CDAB6D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Artifact Improvements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Java: fixed the non-runnable R analysis by removing hard-coded paths and adding robust asset discovery.</a:t>
            </a:r>
            <a:endParaRPr lang="en-US" sz="2000"/>
          </a:p>
          <a:p>
            <a:pPr lvl="0"/>
            <a:r>
              <a:rPr lang="en-US" sz="2000"/>
              <a:t>Java: added README guidance and stable output handling for repeatable reruns.</a:t>
            </a:r>
            <a:endParaRPr lang="en-US" sz="2000"/>
          </a:p>
          <a:p>
            <a:pPr lvl="0"/>
            <a:r>
              <a:rPr lang="en-US" sz="2000"/>
              <a:t>Python: introduced wrapper scripts run_train_sidepy.py, run_score_sidepy.py, run_compare_metrics.py, and run_all.py.</a:t>
            </a:r>
            <a:endParaRPr lang="en-US" sz="2000"/>
          </a:p>
          <a:p>
            <a:pPr lvl="0"/>
            <a:r>
              <a:rPr lang="en-US" sz="2000"/>
              <a:t>Python: added preflight auditing to surface Git LFS placeholders and missing modules early.</a:t>
            </a:r>
            <a:endParaRPr lang="en-US" sz="2000"/>
          </a:p>
          <a:p>
            <a:pPr lvl="0"/>
            <a:r>
              <a:rPr lang="en-US" sz="2000"/>
              <a:t>Planned next improvements: containerization, smoke tests, and a unified top-level reproduction guide.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0EBCFE1-19FA-4DBC-919C-6AB2FD428CB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Solo Contributions and Workflow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Reproduced and repaired the original Java SIDE artifact in the local clone.</a:t>
            </a:r>
            <a:endParaRPr lang="en-US" sz="2000"/>
          </a:p>
          <a:p>
            <a:pPr lvl="0"/>
            <a:r>
              <a:rPr lang="en-US" sz="2000"/>
              <a:t>Added the missing local assets and validated the end-to-end Analysis output.</a:t>
            </a:r>
            <a:endParaRPr lang="en-US" sz="2000"/>
          </a:p>
          <a:p>
            <a:pPr lvl="0"/>
            <a:r>
              <a:rPr lang="en-US" sz="2000"/>
              <a:t>Built the SidePython pipeline wrappers and trained the current SIDE-py checkpoint.</a:t>
            </a:r>
            <a:endParaRPr lang="en-US" sz="2000"/>
          </a:p>
          <a:p>
            <a:pPr lvl="0"/>
            <a:r>
              <a:rPr lang="en-US" sz="2000"/>
              <a:t>Generated benchmark-side metric summaries and audit reports to document current artifact status.</a:t>
            </a:r>
            <a:endParaRPr lang="en-US" sz="2000"/>
          </a:p>
          <a:p>
            <a:pPr lvl="0"/>
            <a:r>
              <a:rPr lang="en-US" sz="2000"/>
              <a:t>Workflow is currently solo and commit-centric; the next process upgrade is to formalize GitHub issues, milestones, and PR-style review for the remaining work.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77740CB-1A2E-4CBD-BAB7-E4880149679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Challenges and Risks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Some critical datasets are still external or stored as Git LFS pointers, so cloning alone is not sufficient.</a:t>
            </a:r>
            <a:endParaRPr lang="en-US" sz="2000"/>
          </a:p>
          <a:p>
            <a:pPr lvl="0"/>
            <a:r>
              <a:rPr lang="en-US" sz="2000"/>
              <a:t>Cross-repo dependency management is inconsistent, especially across Python and R environments.</a:t>
            </a:r>
            <a:endParaRPr lang="en-US" sz="2000"/>
          </a:p>
          <a:p>
            <a:pPr lvl="0"/>
            <a:r>
              <a:rPr lang="en-US" sz="2000"/>
              <a:t>Python extension quality currently relies on automatic metrics; human annotation and statistical validation remain the main experimental risk.</a:t>
            </a:r>
            <a:endParaRPr lang="en-US" sz="2000"/>
          </a:p>
          <a:p>
            <a:pPr lvl="0"/>
            <a:r>
              <a:rPr lang="en-US" sz="2000"/>
              <a:t>Several legacy scripts contain machine-specific paths, which raises portability and onboarding cost.</a:t>
            </a:r>
            <a:endParaRPr lang="en-US" sz="2000"/>
          </a:p>
          <a:p>
            <a:pPr lvl="0"/>
            <a:r>
              <a:rPr lang="en-US" sz="2000"/>
              <a:t>If GPU availability or package resolution changes, training and scoring throughput could become a bottleneck.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6FFCF0C-8055-4F1A-83C2-B21DDB9697C1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Next Steps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Complete the Python-side reproduction loop: score all benchmark variants and run the full comparison pipeline.</a:t>
            </a:r>
            <a:endParaRPr lang="en-US" sz="2000"/>
          </a:p>
          <a:p>
            <a:pPr lvl="0"/>
            <a:r>
              <a:rPr lang="en-US" sz="2000"/>
              <a:t>Port the Java-style statistical analysis to the Python benchmark with SIDE-py included as a metric.</a:t>
            </a:r>
            <a:endParaRPr lang="en-US" sz="2000"/>
          </a:p>
          <a:p>
            <a:pPr lvl="0"/>
            <a:r>
              <a:rPr lang="en-US" sz="2000"/>
              <a:t>Clean up LFS/data acquisition instructions and add a single start-to-finish reproduction document.</a:t>
            </a:r>
            <a:endParaRPr lang="en-US" sz="2000"/>
          </a:p>
          <a:p>
            <a:pPr lvl="0"/>
            <a:r>
              <a:rPr lang="en-US" sz="2000"/>
              <a:t>Separate active development into milestone-sized branches or tasks and stabilize the final artifact.</a:t>
            </a:r>
            <a:endParaRPr lang="en-US" sz="2000"/>
          </a:p>
          <a:p>
            <a:pPr lvl="0"/>
            <a:r>
              <a:rPr lang="en-US" sz="2000"/>
              <a:t>Prepare the final report with a clear distinction between reproduced results and true extension results.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25A95EC-D9BB-4607-BC78-6D1DFCF3BC9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2600" b="1"/>
              <a:t>Lessons Learned (so far)</a:t>
            </a:r>
            <a:endParaRPr lang="en-US" sz="2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/>
            <a:r>
              <a:rPr lang="en-US" sz="2000"/>
              <a:t>Reproducibility failures are often mundane: paths, hidden external assets, and under-specified environments matter as much as model code.</a:t>
            </a:r>
            <a:endParaRPr lang="en-US" sz="2000"/>
          </a:p>
          <a:p>
            <a:pPr lvl="0"/>
            <a:r>
              <a:rPr lang="en-US" sz="2000"/>
              <a:t>A small amount of automation dramatically improves artifact usability.</a:t>
            </a:r>
            <a:endParaRPr lang="en-US" sz="2000"/>
          </a:p>
          <a:p>
            <a:pPr lvl="0"/>
            <a:r>
              <a:rPr lang="en-US" sz="2000"/>
              <a:t>Semantic metrics like SIDE matter because they test a different assumption than reference-overlap metrics.</a:t>
            </a:r>
            <a:endParaRPr lang="en-US" sz="2000"/>
          </a:p>
          <a:p>
            <a:pPr lvl="0"/>
            <a:r>
              <a:rPr lang="en-US" sz="2000"/>
              <a:t>Extension work should start only after the base artifact is executable and auditable.</a:t>
            </a:r>
            <a:endParaRPr lang="en-US" sz="2000"/>
          </a:p>
          <a:p>
            <a:pPr lvl="0"/>
            <a:r>
              <a:rPr lang="en-US" sz="2000"/>
              <a:t>For empirical software engineering, artifact quality is part of the scientific contribution, not just packaging.</a:t>
            </a:r>
            <a:endParaRPr lang="en-US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69DDEC-75DE-4F29-BF92-90B623FDBD1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ormal_presentation_powerpoint_2">
  <a:themeElements>
    <a:clrScheme name="Custom WM">
      <a:dk1>
        <a:sysClr val="windowText" lastClr="000000"/>
      </a:dk1>
      <a:lt1>
        <a:sysClr val="window" lastClr="FFFFFF"/>
      </a:lt1>
      <a:dk2>
        <a:srgbClr val="B9975B"/>
      </a:dk2>
      <a:lt2>
        <a:srgbClr val="EEECE1"/>
      </a:lt2>
      <a:accent1>
        <a:srgbClr val="115740"/>
      </a:accent1>
      <a:accent2>
        <a:srgbClr val="D0D3D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6600"/>
      </a:hlink>
      <a:folHlink>
        <a:srgbClr val="0066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</ns0:Words>
  <ns0:Application>WPS 演示</ns0:Application>
  <ns0:PresentationFormat>On-screen Show (16:9)</ns0:PresentationFormat>
  <ns0:Paragraphs>2</ns0:Paragraphs>
  <ns0:Slides>16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10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16</ns1:i4>
      </ns1:variant>
    </ns1:vector>
  </ns0:HeadingPairs>
  <ns0:TitlesOfParts>
    <ns1:vector size="27" baseType="lpstr">
      <ns1:lpstr>Arial</ns1:lpstr>
      <ns1:lpstr>宋体</ns1:lpstr>
      <ns1:lpstr>Wingdings</ns1:lpstr>
      <ns1:lpstr>Avenir Next Regular</ns1:lpstr>
      <ns1:lpstr>Segoe Print</ns1:lpstr>
      <ns1:lpstr>Arial</ns1:lpstr>
      <ns1:lpstr>黑体</ns1:lpstr>
      <ns1:lpstr>微软雅黑</ns1:lpstr>
      <ns1:lpstr>Arial Unicode MS</ns1:lpstr>
      <ns1:lpstr>Calibri</ns1:lpstr>
      <ns1:lpstr>informal_presentation_powerpoint_2</ns1:lpstr>
      <ns1:lpstr>Reproducing SIDE and Extending It to Python</ns1:lpstr>
      <ns1:lpstr>Research Problem and Motivation</ns1:lpstr>
      <ns1:lpstr>Overview of the Original Approach</ns1:lpstr>
      <ns1:lpstr>Data, Benchmarks, and Main Results</ns1:lpstr>
      <ns1:lpstr>Artifact and Reproducibility Assessment</ns1:lpstr>
      <ns1:lpstr>Installation, Dependency, and Usability Challenges</ns1:lpstr>
      <ns1:lpstr>Reproduction Progress: Recovering Java SIDE</ns1:lpstr>
      <ns1:lpstr>Reproduced Results: Java Analysis</ns1:lpstr>
      <ns1:lpstr>Planned Extensions</ns1:lpstr>
      <ns1:lpstr>SidePython Artifact Overview</ns1:lpstr>
      <ns1:lpstr>Current Python Progress</ns1:lpstr>
      <ns1:lpstr>Artifact Improvements</ns1:lpstr>
      <ns1:lpstr>Solo Contributions and Workflow</ns1:lpstr>
      <ns1:lpstr>Challenges and Risks</ns1:lpstr>
      <ns1:lpstr>Next Steps</ns1:lpstr>
      <ns1:lpstr>Lessons Learned (so far)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Amelia Rooks</dc:creator>
  <cp:lastModifiedBy>Crizz</cp:lastModifiedBy>
  <cp:revision>20</cp:revision>
  <dcterms:created xsi:type="dcterms:W3CDTF">2014-11-18T19:43:00Z</dcterms:created>
  <dcterms:modified xsi:type="dcterms:W3CDTF">2025-10-23T18:02:54Z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E17EA0E9DA644809BF8B3FBA5C4EF622_11</vt:lpwstr>
  </property>
  <property fmtid="{D5CDD505-2E9C-101B-9397-08002B2CF9AE}" pid="3" name="KSOProductBuildVer">
    <vt:lpwstr>2052-12.1.0.23125</vt:lpwstr>
  </property>
</Properties>
</file>